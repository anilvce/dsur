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4" r:id="rId6"/>
    <p:sldId id="259" r:id="rId7"/>
    <p:sldId id="265" r:id="rId8"/>
    <p:sldId id="260" r:id="rId9"/>
    <p:sldId id="261" r:id="rId10"/>
    <p:sldId id="262" r:id="rId11"/>
    <p:sldId id="266" r:id="rId12"/>
    <p:sldId id="263" r:id="rId13"/>
    <p:sldId id="267" r:id="rId14"/>
    <p:sldId id="269" r:id="rId15"/>
    <p:sldId id="268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  <p:sldId id="318" r:id="rId63"/>
    <p:sldId id="319" r:id="rId64"/>
    <p:sldId id="320" r:id="rId65"/>
    <p:sldId id="321" r:id="rId66"/>
    <p:sldId id="322" r:id="rId67"/>
    <p:sldId id="324" r:id="rId68"/>
    <p:sldId id="323" r:id="rId69"/>
    <p:sldId id="325" r:id="rId70"/>
    <p:sldId id="326" r:id="rId71"/>
    <p:sldId id="327" r:id="rId72"/>
    <p:sldId id="328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UNIT-5</a:t>
            </a:r>
            <a:br>
              <a:rPr lang="en-US" dirty="0"/>
            </a:br>
            <a:r>
              <a:rPr lang="en-US" dirty="0"/>
              <a:t>Time Series in 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5400"/>
              <a:t>Part-2</a:t>
            </a:r>
            <a:endParaRPr lang="en-US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/>
              <a:t>Reading Time Series Data in R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650"/>
            <a:ext cx="10515600" cy="465963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700"/>
              <a:t>Why Reading Data is Important?</a:t>
            </a:r>
            <a:endParaRPr lang="en-US" altLang="en-US" sz="2700"/>
          </a:p>
          <a:p>
            <a:r>
              <a:rPr lang="en-US" altLang="en-US" sz="2700"/>
              <a:t>Before analyzing, we must import data into R in a format that R understands.</a:t>
            </a:r>
            <a:endParaRPr lang="en-US" altLang="en-US" sz="2700"/>
          </a:p>
          <a:p>
            <a:r>
              <a:rPr lang="en-US" altLang="en-US" sz="2700"/>
              <a:t>Normal numeric vectors are not enough – we need time-aware objects.</a:t>
            </a:r>
            <a:endParaRPr lang="en-US" altLang="en-US" sz="2700"/>
          </a:p>
          <a:p>
            <a:r>
              <a:rPr lang="en-US" altLang="en-US" sz="2700"/>
              <a:t>R provides special functions: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scan() → reads raw values from file/console.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ts() → converts values into a time series object (with start, end, frequency).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as.ts() / is.ts() → convert &amp; check objects.</a:t>
            </a:r>
            <a:endParaRPr lang="en-US" altLang="en-US"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scan() Function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Reads raw numbers from a text file or console into R.</a:t>
            </a:r>
            <a:endParaRPr lang="en-US" altLang="en-US"/>
          </a:p>
          <a:p>
            <a:r>
              <a:rPr lang="en-US" altLang="en-US"/>
              <a:t>Useful for time series stored in plain text.</a:t>
            </a:r>
            <a:endParaRPr lang="en-US" altLang="en-US"/>
          </a:p>
          <a:p>
            <a:r>
              <a:rPr lang="en-US" altLang="en-US"/>
              <a:t>Syntax: scan(file)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file: name of the text file (e.g., "Attendance.txt").</a:t>
            </a:r>
            <a:endParaRPr lang="en-US" altLang="en-US"/>
          </a:p>
          <a:p>
            <a:r>
              <a:rPr lang="en-US" altLang="en-US"/>
              <a:t>Returns a numeric vector.</a:t>
            </a:r>
            <a:endParaRPr lang="en-US" altLang="en-US"/>
          </a:p>
          <a:p>
            <a:r>
              <a:rPr lang="en-US" altLang="en-US"/>
              <a:t>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attend &lt;- scan("Attendance.txt")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print(attend)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--If file has: 20 22 25 28 30,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→ Output in R: [1] 20 22 25 28 30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Reading time series data using the scan() function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2130" y="1691005"/>
            <a:ext cx="1082167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ts() Function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519295"/>
          </a:xfrm>
        </p:spPr>
        <p:txBody>
          <a:bodyPr>
            <a:noAutofit/>
          </a:bodyPr>
          <a:p>
            <a:r>
              <a:rPr lang="en-US" altLang="en-US" sz="2400"/>
              <a:t>Converts raw data (vector/matrix) into a time series object.</a:t>
            </a:r>
            <a:endParaRPr lang="en-US" altLang="en-US" sz="2400"/>
          </a:p>
          <a:p>
            <a:r>
              <a:rPr lang="en-US" altLang="en-US" sz="2400"/>
              <a:t>Adds time meaning (start date, frequency).</a:t>
            </a:r>
            <a:endParaRPr lang="en-US" altLang="en-US" sz="2400"/>
          </a:p>
          <a:p>
            <a:r>
              <a:rPr lang="en-US" altLang="en-US" sz="2400"/>
              <a:t>Syntax: ts(data, start, end, frequency)</a:t>
            </a:r>
            <a:endParaRPr lang="en-US" altLang="en-US" sz="2400"/>
          </a:p>
          <a:p>
            <a:r>
              <a:rPr lang="en-US" altLang="en-US" sz="2400"/>
              <a:t>data: vector/matrix of values.</a:t>
            </a:r>
            <a:endParaRPr lang="en-US" altLang="en-US" sz="2400"/>
          </a:p>
          <a:p>
            <a:r>
              <a:rPr lang="en-US" altLang="en-US" sz="2400"/>
              <a:t>start: time of first observation.</a:t>
            </a:r>
            <a:endParaRPr lang="en-US" altLang="en-US" sz="2400"/>
          </a:p>
          <a:p>
            <a:r>
              <a:rPr lang="en-US" altLang="en-US" sz="2400"/>
              <a:t>end: time of last observation (optional).</a:t>
            </a:r>
            <a:endParaRPr lang="en-US" altLang="en-US" sz="2400"/>
          </a:p>
          <a:p>
            <a:r>
              <a:rPr lang="en-US" altLang="en-US" sz="2400"/>
              <a:t>frequency: number of observations per time unit.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Common Frequencies:</a:t>
            </a:r>
            <a:endParaRPr lang="en-US" altLang="en-US" sz="2400"/>
          </a:p>
          <a:p>
            <a:r>
              <a:rPr lang="en-US" altLang="en-US" sz="2400"/>
              <a:t>1 = yearly data</a:t>
            </a:r>
            <a:endParaRPr lang="en-US" altLang="en-US" sz="2400"/>
          </a:p>
          <a:p>
            <a:r>
              <a:rPr lang="en-US" altLang="en-US" sz="2400"/>
              <a:t>4 = quarterly data</a:t>
            </a:r>
            <a:endParaRPr lang="en-US" altLang="en-US" sz="2400"/>
          </a:p>
          <a:p>
            <a:r>
              <a:rPr lang="en-US" altLang="en-US" sz="2400"/>
              <a:t>12 = monthly data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Storing time series data using the ts() function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8165" y="1383030"/>
            <a:ext cx="10516235" cy="5121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5520"/>
            <a:ext cx="10515600" cy="5191760"/>
          </a:xfrm>
        </p:spPr>
        <p:txBody>
          <a:bodyPr/>
          <a:p>
            <a:r>
              <a:rPr lang="en-US" altLang="en-US"/>
              <a:t>Example: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 &lt;- ts(attend, start=c(2011,1), frequency=12)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--Here: start=c(2011,1) → Jan 2011.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frequency=12 → monthly data.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Converting and Checking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If you already have a numeric vector, you can still convert: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simple &lt;- c(10, 20, 30, 40)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tseries &lt;- as.ts(simple)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To check if an object is time series: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is.ts(tseries)   # TRUE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is.ts(simple)    # FALSE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Complete Example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# Step 1: Read numeric values from file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 &lt;- scan("Attendance.txt")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Step 2: Create monthly time series starting from Jan 2011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 &lt;- ts(s, start=c(2011,1), frequency=12)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Step 3: Print the time series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print(t)</a:t>
            </a:r>
            <a:endParaRPr lang="en-US" altLang="en-US"/>
          </a:p>
          <a:p>
            <a:r>
              <a:rPr lang="en-US" altLang="en-US"/>
              <a:t>scan() imports raw numbers.</a:t>
            </a:r>
            <a:endParaRPr lang="en-US" altLang="en-US"/>
          </a:p>
          <a:p>
            <a:r>
              <a:rPr lang="en-US" altLang="en-US"/>
              <a:t>ts() adds time dimension.</a:t>
            </a:r>
            <a:endParaRPr lang="en-US" altLang="en-US"/>
          </a:p>
          <a:p>
            <a:r>
              <a:rPr lang="en-US" altLang="en-US"/>
              <a:t>Now t is a time series object ready for plotting, decomposition, forecasting.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1175" y="403860"/>
            <a:ext cx="11170285" cy="6050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Why This Step Matters?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Autofit/>
          </a:bodyPr>
          <a:p>
            <a:r>
              <a:rPr lang="en-US" altLang="en-US" sz="4000"/>
              <a:t>Raw numbers by themselves do not carry time information.</a:t>
            </a:r>
            <a:endParaRPr lang="en-US" altLang="en-US" sz="4000"/>
          </a:p>
          <a:p>
            <a:r>
              <a:rPr lang="en-US" altLang="en-US" sz="4000"/>
              <a:t>Time series object allows R to: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--Plot values against actual time.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--Perform decomposition (trend, seasonality).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-- Apply forecasting methods (e.g., ARIMA, Holt-Winters).</a:t>
            </a:r>
            <a:endParaRPr lang="en-US" altLang="en-US" sz="4000"/>
          </a:p>
          <a:p>
            <a:r>
              <a:rPr lang="en-US" altLang="en-US" sz="4000"/>
              <a:t>Without converting, analysis may be incorrect.</a:t>
            </a:r>
            <a:endParaRPr lang="en-US" altLang="en-US"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/>
              <a:t>Plotting Time Series Data in R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After reading and storing data, the next task is to plot time series data.</a:t>
            </a:r>
            <a:endParaRPr lang="en-US" altLang="en-US"/>
          </a:p>
          <a:p>
            <a:r>
              <a:rPr lang="en-US" altLang="en-US"/>
              <a:t>Plotting represents data graphically → easy to understand.</a:t>
            </a:r>
            <a:endParaRPr lang="en-US" altLang="en-US"/>
          </a:p>
          <a:p>
            <a:r>
              <a:rPr lang="en-US" altLang="en-US"/>
              <a:t>R provides the function: plot.ts(x)---</a:t>
            </a:r>
            <a:r>
              <a:rPr lang="en-US" altLang="en-US">
                <a:sym typeface="+mn-ea"/>
              </a:rPr>
              <a:t>x = time series object</a:t>
            </a:r>
            <a:endParaRPr lang="en-US" altLang="en-US"/>
          </a:p>
          <a:p>
            <a:r>
              <a:rPr lang="en-US" altLang="en-US"/>
              <a:t>Example 1: Simple Time Series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Attendance data stored in object 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plot.ts(t)</a:t>
            </a:r>
            <a:endParaRPr lang="en-US" altLang="en-US"/>
          </a:p>
          <a:p>
            <a:r>
              <a:rPr lang="en-US" altLang="en-US"/>
              <a:t>Object t contains time series data created using ts().</a:t>
            </a:r>
            <a:endParaRPr lang="en-US" altLang="en-US"/>
          </a:p>
          <a:p>
            <a:r>
              <a:rPr lang="en-US" altLang="en-US"/>
              <a:t>The plot shows random fluctuations in attendance data.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Plotting simple time series data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461135"/>
            <a:ext cx="10309860" cy="4980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Example 2: Attendance Data (Multiple Students)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650"/>
            <a:ext cx="10515600" cy="496697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s &lt;- scan("Attendance.txt")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 &lt;- ts(s, start=c(2011,1), frequency=12)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plot.ts(t)</a:t>
            </a:r>
            <a:endParaRPr lang="en-US" altLang="en-US"/>
          </a:p>
          <a:p>
            <a:r>
              <a:rPr lang="en-US" altLang="en-US"/>
              <a:t>Object s = attendance data.</a:t>
            </a:r>
            <a:endParaRPr lang="en-US" altLang="en-US"/>
          </a:p>
          <a:p>
            <a:r>
              <a:rPr lang="en-US" altLang="en-US"/>
              <a:t>Converted to time series t.</a:t>
            </a:r>
            <a:endParaRPr lang="en-US" altLang="en-US"/>
          </a:p>
          <a:p>
            <a:r>
              <a:rPr lang="en-US" altLang="en-US"/>
              <a:t>The plot shows attendance data of students over six months.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key points: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plot.ts() is the best function for plotting time series.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Makes trend, seasonality, and fluctuations visible.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Forms the basis for decomposition &amp; forecasting.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Another example of plot of time series data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9775" y="1809750"/>
            <a:ext cx="10614025" cy="46475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845"/>
            <a:ext cx="10515600" cy="878205"/>
          </a:xfrm>
        </p:spPr>
        <p:txBody>
          <a:bodyPr/>
          <a:p>
            <a:pPr algn="ctr"/>
            <a:r>
              <a:rPr lang="en-US" altLang="en-US" b="1" u="sng"/>
              <a:t>Decomposing Time Series Data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3160"/>
            <a:ext cx="10515600" cy="5303520"/>
          </a:xfrm>
        </p:spPr>
        <p:txBody>
          <a:bodyPr>
            <a:normAutofit lnSpcReduction="20000"/>
          </a:bodyPr>
          <a:p>
            <a:r>
              <a:rPr lang="en-US" altLang="en-US" sz="4000"/>
              <a:t>Time series changes due to: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1. Seasonal factors (e.g., fruit prices in different seasons)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2. Cyclical movements (e.g., stock prices, business cycles)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3. Irregular events (e.g., political events, natural disasters)</a:t>
            </a:r>
            <a:endParaRPr lang="en-US" altLang="en-US" sz="4000"/>
          </a:p>
          <a:p>
            <a:r>
              <a:rPr lang="en-US" altLang="en-US" sz="4000"/>
              <a:t>Decomposition = breaking down time series into components for analysis.</a:t>
            </a:r>
            <a:endParaRPr lang="en-US" altLang="en-US" sz="4000"/>
          </a:p>
          <a:p>
            <a:r>
              <a:rPr lang="en-US" altLang="en-US" sz="4000"/>
              <a:t>Helps to understand hidden structures in data.</a:t>
            </a:r>
            <a:endParaRPr lang="en-US" altLang="en-US"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Components of Time Series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Trend (T): Long-term growth or decline in data</a:t>
            </a:r>
            <a:endParaRPr lang="en-US" altLang="en-US"/>
          </a:p>
          <a:p>
            <a:r>
              <a:rPr lang="en-US" altLang="en-US"/>
              <a:t>Seasonal (S): Repeating short-term pattern (daily, monthly, yearly)</a:t>
            </a:r>
            <a:endParaRPr lang="en-US" altLang="en-US"/>
          </a:p>
          <a:p>
            <a:r>
              <a:rPr lang="en-US" altLang="en-US"/>
              <a:t>Cyclical (C): Medium-to-long-term fluctuations (not fixed period)</a:t>
            </a:r>
            <a:endParaRPr lang="en-US" altLang="en-US"/>
          </a:p>
          <a:p>
            <a:r>
              <a:rPr lang="en-US" altLang="en-US"/>
              <a:t>Irregular/Random (I): Unpredictable variations (accidents, strikes)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4225290"/>
            <a:ext cx="6278245" cy="1564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Why Do We Decompose?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To separate influences on data</a:t>
            </a:r>
            <a:endParaRPr lang="en-US" altLang="en-US"/>
          </a:p>
          <a:p>
            <a:r>
              <a:rPr lang="en-US" altLang="en-US"/>
              <a:t>To identify seasonal and trend patterns clearly</a:t>
            </a:r>
            <a:endParaRPr lang="en-US" altLang="en-US"/>
          </a:p>
          <a:p>
            <a:r>
              <a:rPr lang="en-US" altLang="en-US"/>
              <a:t>To prepare data for forecasting methods (Exponential Smoothing, ARIMA, etc.)</a:t>
            </a:r>
            <a:endParaRPr lang="en-US" altLang="en-US"/>
          </a:p>
          <a:p>
            <a:r>
              <a:rPr lang="en-US" altLang="en-US"/>
              <a:t>To detect unusual events (outliers, shocks)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/>
              <a:t>Decomposing Non-Seasonal Data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925" y="1402715"/>
            <a:ext cx="10515600" cy="4351338"/>
          </a:xfrm>
        </p:spPr>
        <p:txBody>
          <a:bodyPr>
            <a:normAutofit lnSpcReduction="10000"/>
          </a:bodyPr>
          <a:p>
            <a:r>
              <a:rPr lang="en-US" altLang="en-US"/>
              <a:t>A non-seasonal series has: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Trend (T): Long-term upward/downward movement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Irregular/Random (I): Unpredictable variations</a:t>
            </a:r>
            <a:endParaRPr lang="en-US" altLang="en-US"/>
          </a:p>
          <a:p>
            <a:r>
              <a:rPr lang="en-US" altLang="en-US"/>
              <a:t>No seasonal or cyclical components.</a:t>
            </a:r>
            <a:endParaRPr lang="en-US" altLang="en-US"/>
          </a:p>
          <a:p>
            <a:r>
              <a:rPr lang="en-US" altLang="en-US"/>
              <a:t>Example: Monthly sales data without repeating seasonal patterns.</a:t>
            </a:r>
            <a:endParaRPr lang="en-US" altLang="en-US"/>
          </a:p>
          <a:p>
            <a:r>
              <a:rPr lang="en-US" altLang="en-US"/>
              <a:t>Decomposition method: Simple Moving Average (SMA)</a:t>
            </a:r>
            <a:endParaRPr lang="en-US" altLang="en-US"/>
          </a:p>
          <a:p>
            <a:r>
              <a:rPr lang="en-US" altLang="en-US"/>
              <a:t>Purpose: Smooth random fluctuations → highlight long-term trend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05" y="4827905"/>
            <a:ext cx="731520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fig </a:t>
            </a:r>
            <a:r>
              <a:rPr lang="en-US" altLang="en-US"/>
              <a:t>shows normal plot of time series data before smoothing.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4360" y="1691005"/>
            <a:ext cx="1075880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 Function for Non-Seasonal Decomposition: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710"/>
            <a:ext cx="10515600" cy="4351338"/>
          </a:xfrm>
        </p:spPr>
        <p:txBody>
          <a:bodyPr>
            <a:noAutofit/>
          </a:bodyPr>
          <a:p>
            <a:r>
              <a:rPr lang="en-US" altLang="en-US" sz="4000"/>
              <a:t>R provides SMA() function from package TTR</a:t>
            </a:r>
            <a:endParaRPr lang="en-US" altLang="en-US" sz="4000"/>
          </a:p>
          <a:p>
            <a:r>
              <a:rPr lang="en-US" altLang="en-US" sz="4000"/>
              <a:t>Syntax: SMA(x, n, …)</a:t>
            </a:r>
            <a:endParaRPr lang="en-US" altLang="en-US" sz="4000"/>
          </a:p>
          <a:p>
            <a:r>
              <a:rPr lang="en-US" altLang="en-US" sz="4000"/>
              <a:t>x: time series data (e.g., price, volume, attendance)</a:t>
            </a:r>
            <a:endParaRPr lang="en-US" altLang="en-US" sz="4000"/>
          </a:p>
          <a:p>
            <a:r>
              <a:rPr lang="en-US" altLang="en-US" sz="4000"/>
              <a:t>n: order of moving average</a:t>
            </a:r>
            <a:endParaRPr lang="en-US" altLang="en-US" sz="4000"/>
          </a:p>
          <a:p>
            <a:r>
              <a:rPr lang="en-US" altLang="en-US" sz="4000"/>
              <a:t>…: other options</a:t>
            </a:r>
            <a:endParaRPr lang="en-US" altLang="en-US" sz="4000"/>
          </a:p>
          <a:p>
            <a:r>
              <a:rPr lang="en-US" altLang="en-US" sz="4000"/>
              <a:t>Larger n → smoother curve → trend extracted more clearly</a:t>
            </a:r>
            <a:endParaRPr lang="en-US" altLang="en-US" sz="4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1770"/>
            <a:ext cx="10515600" cy="5134610"/>
          </a:xfrm>
        </p:spPr>
        <p:txBody>
          <a:bodyPr>
            <a:normAutofit fontScale="80000"/>
          </a:bodyPr>
          <a:p>
            <a:r>
              <a:rPr lang="en-US" altLang="en-US"/>
              <a:t>Data from “SA.dat” file → stored in object t</a:t>
            </a:r>
            <a:endParaRPr lang="en-US" altLang="en-US"/>
          </a:p>
          <a:p>
            <a:r>
              <a:rPr lang="en-US" altLang="en-US"/>
              <a:t>Step 1: Plot original series → random fluctuations</a:t>
            </a:r>
            <a:endParaRPr lang="en-US" altLang="en-US"/>
          </a:p>
          <a:p>
            <a:r>
              <a:rPr lang="en-US" altLang="en-US"/>
              <a:t>Step 2: Apply SMA with order = 4 → smooth data to estimate trend</a:t>
            </a:r>
            <a:endParaRPr lang="en-US" altLang="en-US"/>
          </a:p>
          <a:p>
            <a:r>
              <a:rPr lang="en-US" altLang="en-US"/>
              <a:t>Step 3: Plot smoothed data</a:t>
            </a:r>
            <a:endParaRPr lang="en-US" altLang="en-US"/>
          </a:p>
          <a:p>
            <a:r>
              <a:rPr lang="en-US" altLang="en-US"/>
              <a:t>R code: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library(TTR)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 &lt;- scan("SA.dat")    # Read data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 &lt;- ts(data)             # Create time series object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trend &lt;- SMA(t, n=4)      # Apply SMA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plot(t, main="Original vs Trend")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lines(trend, col="red")   # Add trend line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/>
              <a:t>Fig </a:t>
            </a:r>
            <a:r>
              <a:rPr lang="en-US" altLang="en-US"/>
              <a:t>shows smoothed series after SMA(4).</a:t>
            </a:r>
            <a:endParaRPr lang="en-US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216025"/>
            <a:ext cx="9770745" cy="54368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Higher Order Smoothing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375"/>
            <a:ext cx="10515600" cy="4827905"/>
          </a:xfrm>
        </p:spPr>
        <p:txBody>
          <a:bodyPr/>
          <a:p>
            <a:r>
              <a:rPr lang="en-US" altLang="en-US"/>
              <a:t>Increasing the order (n) = smoother line</a:t>
            </a:r>
            <a:endParaRPr lang="en-US" altLang="en-US"/>
          </a:p>
          <a:p>
            <a:r>
              <a:rPr lang="en-US" altLang="en-US"/>
              <a:t>Helps in better estimation of trend by filtering out irregulars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460" y="2261870"/>
            <a:ext cx="9041765" cy="45961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Points: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4400"/>
              <a:t>Non-seasonal decomposition = Trend + Irregular only</a:t>
            </a:r>
            <a:endParaRPr lang="en-US" altLang="en-US" sz="4400"/>
          </a:p>
          <a:p>
            <a:r>
              <a:rPr lang="en-US" altLang="en-US" sz="4400"/>
              <a:t>SMA is used to separate trend from random noise</a:t>
            </a:r>
            <a:endParaRPr lang="en-US" altLang="en-US" sz="4400"/>
          </a:p>
          <a:p>
            <a:r>
              <a:rPr lang="en-US" altLang="en-US" sz="4400"/>
              <a:t>Order (n) controls level of smoothing</a:t>
            </a:r>
            <a:endParaRPr lang="en-US" altLang="en-US" sz="4400"/>
          </a:p>
          <a:p>
            <a:r>
              <a:rPr lang="en-US" altLang="en-US" sz="4400"/>
              <a:t>Useful before applying forecasting models</a:t>
            </a:r>
            <a:endParaRPr lang="en-US" altLang="en-US" sz="4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 </a:t>
            </a:r>
            <a:r>
              <a:rPr lang="en-US" altLang="en-US" b="1" u="sng"/>
              <a:t>Decomposing Seasonal Data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1770"/>
            <a:ext cx="10515600" cy="4351338"/>
          </a:xfrm>
        </p:spPr>
        <p:txBody>
          <a:bodyPr>
            <a:normAutofit/>
          </a:bodyPr>
          <a:p>
            <a:r>
              <a:rPr lang="en-US" altLang="en-US" sz="3200"/>
              <a:t>A seasonal time series contains:</a:t>
            </a:r>
            <a:endParaRPr lang="en-US" altLang="en-US" sz="3200"/>
          </a:p>
          <a:p>
            <a:pPr marL="0" indent="457200">
              <a:buNone/>
            </a:pPr>
            <a:r>
              <a:rPr lang="en-US" altLang="en-US" sz="3200"/>
              <a:t>1. Trend (T) – long-term movement</a:t>
            </a:r>
            <a:endParaRPr lang="en-US" altLang="en-US" sz="3200"/>
          </a:p>
          <a:p>
            <a:pPr marL="0" indent="457200">
              <a:buNone/>
            </a:pPr>
            <a:r>
              <a:rPr lang="en-US" altLang="en-US" sz="3200"/>
              <a:t>2. Seasonal (S) – repeating short-term variations (e.g., monthly, 	quarterly)</a:t>
            </a:r>
            <a:endParaRPr lang="en-US" altLang="en-US" sz="3200"/>
          </a:p>
          <a:p>
            <a:pPr marL="0" indent="457200">
              <a:buNone/>
            </a:pPr>
            <a:r>
              <a:rPr lang="en-US" altLang="en-US" sz="3200"/>
              <a:t>3. Irregular (I) – random effects</a:t>
            </a:r>
            <a:endParaRPr lang="en-US" altLang="en-US" sz="3200"/>
          </a:p>
          <a:p>
            <a:r>
              <a:rPr lang="en-US" altLang="en-US" sz="3200"/>
              <a:t>Method: Calculate moving average to smooth trend &amp; extract seasonal factor.</a:t>
            </a:r>
            <a:endParaRPr lang="en-US" altLang="en-US" sz="3200"/>
          </a:p>
          <a:p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5146040"/>
            <a:ext cx="8240395" cy="11982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decomposition output (attendance data example)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5955" y="1353820"/>
            <a:ext cx="9366885" cy="51860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Functions for Seasonal Decomposition: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3600"/>
              <a:t>decompose() function</a:t>
            </a:r>
            <a:endParaRPr lang="en-US" altLang="en-US" sz="3600"/>
          </a:p>
          <a:p>
            <a:r>
              <a:rPr lang="en-US" altLang="en-US" sz="3600"/>
              <a:t>Splits into seasonal, trend, irregular</a:t>
            </a:r>
            <a:endParaRPr lang="en-US" altLang="en-US" sz="3600"/>
          </a:p>
          <a:p>
            <a:r>
              <a:rPr lang="en-US" altLang="en-US" sz="3600"/>
              <a:t>Uses moving averages for smoothing</a:t>
            </a:r>
            <a:endParaRPr lang="en-US" altLang="en-US" sz="3600"/>
          </a:p>
          <a:p>
            <a:r>
              <a:rPr lang="en-US" altLang="en-US" sz="3600"/>
              <a:t>Syntax: decompose(x, type, …)</a:t>
            </a:r>
            <a:endParaRPr lang="en-US" altLang="en-US" sz="3600"/>
          </a:p>
          <a:p>
            <a:r>
              <a:rPr lang="en-US" altLang="en-US" sz="3600"/>
              <a:t>x → time series object</a:t>
            </a:r>
            <a:endParaRPr lang="en-US" altLang="en-US" sz="3600"/>
          </a:p>
          <a:p>
            <a:r>
              <a:rPr lang="en-US" altLang="en-US" sz="3600"/>
              <a:t>type → additive or multiplicative model</a:t>
            </a:r>
            <a:endParaRPr lang="en-US" altLang="en-US" sz="3600"/>
          </a:p>
          <a:p>
            <a:endParaRPr lang="en-US" altLang="en-US"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graphical plot of all components from decompose()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8877300" cy="45288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 – Using decompose()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data &lt;- scan("SA.dat")     # Read attendance data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 &lt;- ts(data)              # Create time series object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# Apply decomposition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 &lt;- decompose(t)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plot(d)                    # Plot seasonal, trend, irregular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/>
              <a:t>E</a:t>
            </a:r>
            <a:r>
              <a:rPr lang="en-US" altLang="en-US"/>
              <a:t>xample shows peak in June (+17.63) and lowest in July (-21.86).</a:t>
            </a:r>
            <a:endParaRPr lang="en-US" altLang="en-US"/>
          </a:p>
          <a:p>
            <a:r>
              <a:rPr lang="en-US" altLang="en-US"/>
              <a:t>Indicates strong seasonal variation in attendance data.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STL (Seasonal-Trend Decomposition):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3600"/>
              <a:t>s</a:t>
            </a:r>
            <a:r>
              <a:rPr lang="en-US" altLang="en-US" sz="3600"/>
              <a:t>tl() function = Seasonal-Trend decomposition using LOESS regression</a:t>
            </a:r>
            <a:endParaRPr lang="en-US" altLang="en-US" sz="3600"/>
          </a:p>
          <a:p>
            <a:r>
              <a:rPr lang="en-US" altLang="en-US" sz="3600"/>
              <a:t>More flexible than decompose()</a:t>
            </a:r>
            <a:endParaRPr lang="en-US" altLang="en-US" sz="3600"/>
          </a:p>
          <a:p>
            <a:r>
              <a:rPr lang="en-US" altLang="en-US" sz="3600"/>
              <a:t>Syntax: stl(x, s.window, …)</a:t>
            </a:r>
            <a:endParaRPr lang="en-US" altLang="en-US" sz="3600"/>
          </a:p>
          <a:p>
            <a:r>
              <a:rPr lang="en-US" altLang="en-US" sz="3600"/>
              <a:t>x → time series object</a:t>
            </a:r>
            <a:endParaRPr lang="en-US" altLang="en-US" sz="3600"/>
          </a:p>
          <a:p>
            <a:r>
              <a:rPr lang="en-US" altLang="en-US" sz="3600"/>
              <a:t>s.window = “periodic” or odd number ≥ 7 (span for smoothing)</a:t>
            </a:r>
            <a:endParaRPr lang="en-US" altLang="en-US"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p>
            <a:r>
              <a:rPr lang="en-US" altLang="en-US"/>
              <a:t>output of stl() function (list of components).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4835" y="1153795"/>
            <a:ext cx="10768965" cy="54140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plot of STL components (trend, seasonal, remainder).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690370"/>
            <a:ext cx="10514330" cy="47847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Points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Seasonal decomposition = Trend + Seasonal + Irregular</a:t>
            </a:r>
            <a:endParaRPr lang="en-US" altLang="en-US"/>
          </a:p>
          <a:p>
            <a:r>
              <a:rPr lang="en-US" altLang="en-US"/>
              <a:t>decompose() → simple, moving average based</a:t>
            </a:r>
            <a:endParaRPr lang="en-US" altLang="en-US"/>
          </a:p>
          <a:p>
            <a:r>
              <a:rPr lang="en-US" altLang="en-US"/>
              <a:t>stl() → advanced, regression-based (better accuracy)</a:t>
            </a:r>
            <a:endParaRPr lang="en-US" altLang="en-US"/>
          </a:p>
          <a:p>
            <a:r>
              <a:rPr lang="en-US" altLang="en-US"/>
              <a:t>Useful to detect and quantify seasonality before forecasting</a:t>
            </a: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/>
              <a:t>Seasonal Adjustment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Seasonally Adjusted Time Series = Original data without seasonal component</a:t>
            </a:r>
            <a:endParaRPr lang="en-US" altLang="en-US"/>
          </a:p>
          <a:p>
            <a:r>
              <a:rPr lang="en-US" altLang="en-US"/>
              <a:t>Purpose: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Remove seasonal fluctuations → highlight trend + irregular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Easier to compare data across months/years</a:t>
            </a:r>
            <a:endParaRPr lang="en-US" altLang="en-US"/>
          </a:p>
          <a:p>
            <a:r>
              <a:rPr lang="en-US" altLang="en-US"/>
              <a:t>Method: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Estimate seasonal component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Subtract it from original time series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Example of seasonal adjustment using subtraction method (t – d$seasonal).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0870" y="1691005"/>
            <a:ext cx="10916920" cy="477456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810"/>
            <a:ext cx="10515600" cy="849630"/>
          </a:xfrm>
        </p:spPr>
        <p:txBody>
          <a:bodyPr/>
          <a:p>
            <a:r>
              <a:rPr lang="en-US" altLang="en-US"/>
              <a:t>Methods of Seasonal Adjustment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196840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/>
              <a:t>1. Difference Method</a:t>
            </a:r>
            <a:endParaRPr lang="en-US" altLang="en-US"/>
          </a:p>
          <a:p>
            <a:r>
              <a:rPr lang="en-US" altLang="en-US"/>
              <a:t>Compute seasonal component using decompose()</a:t>
            </a:r>
            <a:endParaRPr lang="en-US" altLang="en-US"/>
          </a:p>
          <a:p>
            <a:r>
              <a:rPr lang="en-US" altLang="en-US"/>
              <a:t>Subtract from original series: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 &lt;- decompose(t)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adjusted &lt;- t - d$seasonal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plot(adjusted)</a:t>
            </a:r>
            <a:endParaRPr lang="en-US" altLang="en-US"/>
          </a:p>
          <a:p>
            <a:r>
              <a:rPr lang="en-US" altLang="en-US"/>
              <a:t>Produces seasonally adjusted series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2. Using seas() function (package seasonal)</a:t>
            </a:r>
            <a:endParaRPr lang="en-US" altLang="en-US"/>
          </a:p>
          <a:p>
            <a:r>
              <a:rPr lang="en-US" altLang="en-US"/>
              <a:t>Automates seasonal adjustment</a:t>
            </a:r>
            <a:endParaRPr lang="en-US" altLang="en-US"/>
          </a:p>
          <a:p>
            <a:r>
              <a:rPr lang="en-US" altLang="en-US"/>
              <a:t>Syntax: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library(seasonal)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seas(t)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Seasonally adjusted series using seas().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7685" y="1377315"/>
            <a:ext cx="11294745" cy="492887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30"/>
          </a:xfrm>
        </p:spPr>
        <p:txBody>
          <a:bodyPr/>
          <a:p>
            <a:r>
              <a:rPr lang="en-US" altLang="en-US"/>
              <a:t>Example: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755"/>
            <a:ext cx="10515600" cy="4962525"/>
          </a:xfrm>
        </p:spPr>
        <p:txBody>
          <a:bodyPr>
            <a:normAutofit fontScale="70000"/>
          </a:bodyPr>
          <a:p>
            <a:r>
              <a:rPr lang="en-US" altLang="en-US"/>
              <a:t>Difference method: removes seasonal peaks/dips → shows smoother trend</a:t>
            </a:r>
            <a:endParaRPr lang="en-US" altLang="en-US"/>
          </a:p>
          <a:p>
            <a:r>
              <a:rPr lang="en-US" altLang="en-US"/>
              <a:t>seas(): directly generates seasonally adjusted data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 &lt;- scan("SA.dat")   # Attendance data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 &lt;- ts(data)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Method 1: Difference Method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 &lt;- decompose(t)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adjusted &lt;- t - d$seasonal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plot(adjusted, main="Seasonally Adjusted Series (Difference Method)")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Method 2: Using seas()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library(seasonal)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sa &lt;- seas(t)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plot(sa, main="Seasonally Adjusted using seas()")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Points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Seasonal adjustment removes recurring patterns</a:t>
            </a:r>
            <a:endParaRPr lang="en-US" altLang="en-US"/>
          </a:p>
          <a:p>
            <a:r>
              <a:rPr lang="en-US" altLang="en-US"/>
              <a:t>Helps reveal true trend in data</a:t>
            </a:r>
            <a:endParaRPr lang="en-US" altLang="en-US"/>
          </a:p>
          <a:p>
            <a:r>
              <a:rPr lang="en-US" altLang="en-US"/>
              <a:t>Two main approaches: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Manual difference method (t – d$seasonal)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Automated seas() function</a:t>
            </a:r>
            <a:endParaRPr lang="en-US" altLang="en-US"/>
          </a:p>
          <a:p>
            <a:r>
              <a:rPr lang="en-US" altLang="en-US"/>
              <a:t>Essential for business forecasting → avoids misleading seasonal effects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9640"/>
          </a:xfrm>
        </p:spPr>
        <p:txBody>
          <a:bodyPr/>
          <a:p>
            <a:pPr algn="ctr"/>
            <a:r>
              <a:rPr lang="en-US" altLang="en-US" b="1" u="sng"/>
              <a:t>Regression Analysis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4785"/>
            <a:ext cx="10515600" cy="4722495"/>
          </a:xfrm>
        </p:spPr>
        <p:txBody>
          <a:bodyPr/>
          <a:p>
            <a:r>
              <a:rPr lang="en-US" altLang="en-US"/>
              <a:t>Regression Analysis: Identifies linear relationship between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1.Independent variables (predictors)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Dependent variable (response)</a:t>
            </a:r>
            <a:endParaRPr lang="en-US" altLang="en-US"/>
          </a:p>
          <a:p>
            <a:r>
              <a:rPr lang="en-US" altLang="en-US"/>
              <a:t>Used in time series to model influence of predictors on outcomes</a:t>
            </a:r>
            <a:endParaRPr lang="en-US" altLang="en-US"/>
          </a:p>
          <a:p>
            <a:r>
              <a:rPr lang="en-US" altLang="en-US"/>
              <a:t>In R, use the lm() function: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lm(formula, data, …)</a:t>
            </a:r>
            <a:endParaRPr lang="en-US" altLang="en-US"/>
          </a:p>
          <a:p>
            <a:r>
              <a:rPr lang="en-US" altLang="en-US"/>
              <a:t>formula → defines model (response ~ predictors)</a:t>
            </a:r>
            <a:endParaRPr lang="en-US" altLang="en-US"/>
          </a:p>
          <a:p>
            <a:r>
              <a:rPr lang="en-US" altLang="en-US"/>
              <a:t>data → dataset (vector, data frame, or list)</a:t>
            </a:r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550"/>
          </a:xfrm>
        </p:spPr>
        <p:txBody>
          <a:bodyPr>
            <a:normAutofit fontScale="90000"/>
          </a:bodyPr>
          <a:p>
            <a:r>
              <a:rPr lang="en-US" altLang="en-US"/>
              <a:t>Example: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2040"/>
            <a:ext cx="10515600" cy="5095240"/>
          </a:xfrm>
        </p:spPr>
        <p:txBody>
          <a:bodyPr>
            <a:normAutofit lnSpcReduction="20000"/>
          </a:bodyPr>
          <a:p>
            <a:r>
              <a:rPr lang="en-US" altLang="en-US"/>
              <a:t>Create two vectors: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→ attendance data (independent variable)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 → result data (dependent variable)</a:t>
            </a:r>
            <a:endParaRPr lang="en-US" altLang="en-US"/>
          </a:p>
          <a:p>
            <a:r>
              <a:rPr lang="en-US" altLang="en-US"/>
              <a:t>Apply linear regression using lm():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&lt;- c(30, 35, 40, 45, 50)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 &lt;- c(55, 60, 65, 70, 75)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model &lt;- lm(r ~ 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summary(model)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summary() returns coefficient values and significance tests</a:t>
            </a: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2545"/>
            <a:ext cx="10515600" cy="1325563"/>
          </a:xfrm>
        </p:spPr>
        <p:txBody>
          <a:bodyPr>
            <a:normAutofit/>
          </a:bodyPr>
          <a:p>
            <a:r>
              <a:rPr lang="en-US" altLang="en-US"/>
              <a:t>regression analysis output (coefficients table).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045210"/>
            <a:ext cx="11559540" cy="581279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Output Explanation: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Intercept (constant) → baseline value of response</a:t>
            </a:r>
            <a:endParaRPr lang="en-US" altLang="en-US"/>
          </a:p>
          <a:p>
            <a:r>
              <a:rPr lang="en-US" altLang="en-US"/>
              <a:t>Slope (coefficient) → how much response changes per unit change in predictor</a:t>
            </a:r>
            <a:endParaRPr lang="en-US" altLang="en-US"/>
          </a:p>
          <a:p>
            <a:r>
              <a:rPr lang="en-US" altLang="en-US"/>
              <a:t>p-value → tests significance of predictor</a:t>
            </a:r>
            <a:endParaRPr lang="en-US" altLang="en-US"/>
          </a:p>
          <a:p>
            <a:r>
              <a:rPr lang="en-US" altLang="en-US"/>
              <a:t>R² (coefficient of determination) → how well model fits data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Points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3200"/>
              <a:t>Regression analysis helps quantify relationships in time series</a:t>
            </a:r>
            <a:endParaRPr lang="en-US" altLang="en-US" sz="3200"/>
          </a:p>
          <a:p>
            <a:r>
              <a:rPr lang="en-US" altLang="en-US" sz="3200"/>
              <a:t>lm() provides regression model with coefficients and diagnostics</a:t>
            </a:r>
            <a:endParaRPr lang="en-US" altLang="en-US" sz="3200"/>
          </a:p>
          <a:p>
            <a:r>
              <a:rPr lang="en-US" altLang="en-US" sz="3200"/>
              <a:t>Supports trend estimation and forecasting</a:t>
            </a:r>
            <a:endParaRPr lang="en-US" altLang="en-US" sz="3200"/>
          </a:p>
          <a:p>
            <a:r>
              <a:rPr lang="en-US" altLang="en-US" sz="3200"/>
              <a:t>Output used to:</a:t>
            </a:r>
            <a:endParaRPr lang="en-US" altLang="en-US" sz="3200"/>
          </a:p>
          <a:p>
            <a:pPr marL="0" indent="457200">
              <a:buNone/>
            </a:pPr>
            <a:r>
              <a:rPr lang="en-US" altLang="en-US" sz="3200"/>
              <a:t>1.Test predictor significance</a:t>
            </a:r>
            <a:endParaRPr lang="en-US" altLang="en-US" sz="3200"/>
          </a:p>
          <a:p>
            <a:pPr marL="0" indent="457200">
              <a:buNone/>
            </a:pPr>
            <a:r>
              <a:rPr lang="en-US" altLang="en-US" sz="3200"/>
              <a:t>2. Build predictive models</a:t>
            </a:r>
            <a:endParaRPr lang="en-US" altLang="en-US" sz="3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/>
              <a:t>Forecasts Using Exponential Smoothing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4785"/>
            <a:ext cx="10515600" cy="5172710"/>
          </a:xfrm>
        </p:spPr>
        <p:txBody>
          <a:bodyPr>
            <a:normAutofit fontScale="80000"/>
          </a:bodyPr>
          <a:p>
            <a:r>
              <a:rPr lang="en-US" altLang="en-US"/>
              <a:t>Forecasting → predicts future values based on past observations.</a:t>
            </a:r>
            <a:endParaRPr lang="en-US" altLang="en-US"/>
          </a:p>
          <a:p>
            <a:r>
              <a:rPr lang="en-US" altLang="en-US"/>
              <a:t>Exponential Smoothing: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Assigns more weight to recent observations, less weight to older 	ones.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Filters out random noise → makes short-term forecasts.</a:t>
            </a:r>
            <a:endParaRPr lang="en-US" altLang="en-US"/>
          </a:p>
          <a:p>
            <a:r>
              <a:rPr lang="en-US" altLang="en-US"/>
              <a:t>In R: HoltWinters() function:  HoltWinters(x, alpha=NULL, beta=NULL, gamma=NULL, …)</a:t>
            </a:r>
            <a:endParaRPr lang="en-US" altLang="en-US"/>
          </a:p>
          <a:p>
            <a:r>
              <a:rPr lang="en-US" altLang="en-US"/>
              <a:t>x → time series object</a:t>
            </a:r>
            <a:endParaRPr lang="en-US" altLang="en-US"/>
          </a:p>
          <a:p>
            <a:r>
              <a:rPr lang="en-US" altLang="en-US"/>
              <a:t>alpha → smoothing parameter for level</a:t>
            </a:r>
            <a:endParaRPr lang="en-US" altLang="en-US"/>
          </a:p>
          <a:p>
            <a:r>
              <a:rPr lang="en-US" altLang="en-US"/>
              <a:t>beta → smoothing parameter for trend</a:t>
            </a:r>
            <a:endParaRPr lang="en-US" altLang="en-US"/>
          </a:p>
          <a:p>
            <a:r>
              <a:rPr lang="en-US" altLang="en-US"/>
              <a:t>gamma → smoothing parameter for seasonality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Values range 0 to 1:</a:t>
            </a:r>
            <a:endParaRPr lang="en-US" altLang="en-US"/>
          </a:p>
          <a:p>
            <a:r>
              <a:rPr lang="en-US" altLang="en-US"/>
              <a:t>Near 0 → forecasts depend on less recent observations</a:t>
            </a:r>
            <a:endParaRPr lang="en-US" altLang="en-US"/>
          </a:p>
          <a:p>
            <a:r>
              <a:rPr lang="en-US" altLang="en-US"/>
              <a:t>Near 1 → forecasts depend more on recent observations</a:t>
            </a:r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/>
          <a:p>
            <a:r>
              <a:rPr lang="en-US" altLang="en-US"/>
              <a:t>1 .Simple Exponential Smoothing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2050"/>
            <a:ext cx="10515600" cy="5015230"/>
          </a:xfrm>
        </p:spPr>
        <p:txBody>
          <a:bodyPr>
            <a:normAutofit fontScale="90000"/>
          </a:bodyPr>
          <a:p>
            <a:r>
              <a:rPr lang="en-US" altLang="en-US"/>
              <a:t>Estimates only the level of a time series at current point.</a:t>
            </a:r>
            <a:endParaRPr lang="en-US" altLang="en-US"/>
          </a:p>
          <a:p>
            <a:r>
              <a:rPr lang="en-US" altLang="en-US"/>
              <a:t>Best for data with no trend &amp; no seasonality.</a:t>
            </a:r>
            <a:endParaRPr lang="en-US" altLang="en-US"/>
          </a:p>
          <a:p>
            <a:r>
              <a:rPr lang="en-US" altLang="en-US"/>
              <a:t>Uses parameter alpha (α).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Works well for short-term predictions.</a:t>
            </a:r>
            <a:endParaRPr lang="en-US" altLang="en-US"/>
          </a:p>
          <a:p>
            <a:r>
              <a:rPr lang="en-US" altLang="en-US"/>
              <a:t>α close to 1 → forecast depends on recent values.</a:t>
            </a:r>
            <a:endParaRPr lang="en-US" altLang="en-US"/>
          </a:p>
          <a:p>
            <a:r>
              <a:rPr lang="en-US" altLang="en-US"/>
              <a:t>α close to 0 → forecast depends on older averages.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730" y="2665095"/>
            <a:ext cx="6784340" cy="136271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/>
          <a:p>
            <a:r>
              <a:rPr lang="en-US" altLang="en-US"/>
              <a:t>R Example: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2080"/>
            <a:ext cx="10515600" cy="4775200"/>
          </a:xfrm>
        </p:spPr>
        <p:txBody>
          <a:bodyPr/>
          <a:p>
            <a:pPr marL="0" indent="0">
              <a:buNone/>
            </a:pPr>
            <a:r>
              <a:rPr lang="en-US" altLang="en-US"/>
              <a:t>data &lt;- scan("Attendance.txt")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&lt;- ts(data)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Simple exponential smoothing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model &lt;- HoltWinters(a, beta=FALSE, gamma=FALSE)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plot(model)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beta=FALSE, gamma=FALSE → disables trend &amp; seasonality.</a:t>
            </a:r>
            <a:endParaRPr lang="en-US" altLang="en-US"/>
          </a:p>
          <a:p>
            <a:r>
              <a:rPr lang="en-US" altLang="en-US"/>
              <a:t>Forecast is smoother than original data.</a:t>
            </a:r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550"/>
          </a:xfrm>
        </p:spPr>
        <p:txBody>
          <a:bodyPr>
            <a:normAutofit fontScale="90000"/>
          </a:bodyPr>
          <a:p>
            <a:r>
              <a:rPr lang="en-US" altLang="en-US"/>
              <a:t> shows simple exponential smoothing forecast.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8175" y="1279525"/>
            <a:ext cx="10714990" cy="49142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30"/>
          </a:xfrm>
        </p:spPr>
        <p:txBody>
          <a:bodyPr/>
          <a:p>
            <a:r>
              <a:rPr lang="en-US" altLang="en-US"/>
              <a:t>2 .Holt’s Exponential Smoothing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5280025"/>
          </a:xfrm>
        </p:spPr>
        <p:txBody>
          <a:bodyPr>
            <a:normAutofit fontScale="80000"/>
          </a:bodyPr>
          <a:p>
            <a:r>
              <a:rPr lang="en-US" altLang="en-US"/>
              <a:t>Extends simple method by adding trend component.</a:t>
            </a:r>
            <a:endParaRPr lang="en-US" altLang="en-US"/>
          </a:p>
          <a:p>
            <a:r>
              <a:rPr lang="en-US" altLang="en-US"/>
              <a:t>Best for data with trend but no seasonality.</a:t>
            </a:r>
            <a:endParaRPr lang="en-US" altLang="en-US"/>
          </a:p>
          <a:p>
            <a:r>
              <a:rPr lang="en-US" altLang="en-US"/>
              <a:t>Uses parameters: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1. alpha (α) → level 2. beta (β) → trend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 &lt;- scan("Attendance.txt")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&lt;- ts(data)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Holt’s method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model &lt;- HoltWinters(a, gamma=FALSE)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plot(model)</a:t>
            </a:r>
            <a:endParaRPr lang="en-US" altLang="en-US"/>
          </a:p>
          <a:p>
            <a:r>
              <a:rPr lang="en-US" altLang="en-US"/>
              <a:t>gamma=FALSE → disables seasonality.</a:t>
            </a:r>
            <a:endParaRPr lang="en-US" altLang="en-US"/>
          </a:p>
          <a:p>
            <a:r>
              <a:rPr lang="en-US" altLang="en-US"/>
              <a:t>Output shows both level &amp; slope.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Holt’s exponential smoothing (original vs forecast).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3095" y="1691005"/>
            <a:ext cx="10720705" cy="483997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Points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4000"/>
              <a:t>Captures trend changes in data.</a:t>
            </a:r>
            <a:endParaRPr lang="en-US" altLang="en-US" sz="4000"/>
          </a:p>
          <a:p>
            <a:r>
              <a:rPr lang="en-US" altLang="en-US" sz="4000"/>
              <a:t>α and β near 0 → forecast depends on older data.</a:t>
            </a:r>
            <a:endParaRPr lang="en-US" altLang="en-US" sz="4000"/>
          </a:p>
          <a:p>
            <a:r>
              <a:rPr lang="en-US" altLang="en-US" sz="4000"/>
              <a:t>α and β near 1 → forecast adapts quickly to recent changes.</a:t>
            </a:r>
            <a:endParaRPr lang="en-US" altLang="en-US" sz="4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3 Holt-Winters Exponential Smoothing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Extends Holt’s method by adding seasonality.</a:t>
            </a:r>
            <a:endParaRPr lang="en-US" altLang="en-US"/>
          </a:p>
          <a:p>
            <a:r>
              <a:rPr lang="en-US" altLang="en-US"/>
              <a:t>Best for data with trend + seasonality.</a:t>
            </a:r>
            <a:endParaRPr lang="en-US" altLang="en-US"/>
          </a:p>
          <a:p>
            <a:r>
              <a:rPr lang="en-US" altLang="en-US"/>
              <a:t>Uses parameters:</a:t>
            </a:r>
            <a:endParaRPr lang="en-US" altLang="en-US"/>
          </a:p>
          <a:p>
            <a:r>
              <a:rPr lang="en-US" altLang="en-US">
                <a:sym typeface="+mn-ea"/>
              </a:rPr>
              <a:t>1. alpha (α) → level  2, beta (β) → trend 3. gamma (γ) → seasonality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Most powerful exponential smoothing method.</a:t>
            </a:r>
            <a:endParaRPr lang="en-US" altLang="en-US"/>
          </a:p>
          <a:p>
            <a:r>
              <a:rPr lang="en-US" altLang="en-US"/>
              <a:t>Suitable for real-world business data (sales, temperature, demand).</a:t>
            </a:r>
            <a:endParaRPr lang="en-US" altLang="en-US"/>
          </a:p>
          <a:p>
            <a:r>
              <a:rPr lang="en-US" altLang="en-US"/>
              <a:t>Provides trend + seasonal adjusted forecasts.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 Example: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R Code: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 &lt;- scan("Attendance.txt")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&lt;- ts(data)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Holt-Winters method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model &lt;- HoltWinters(a)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plot(model)</a:t>
            </a:r>
            <a:endParaRPr lang="en-US" altLang="en-US"/>
          </a:p>
          <a:p>
            <a:r>
              <a:rPr lang="en-US" altLang="en-US"/>
              <a:t>All three parameters used.</a:t>
            </a:r>
            <a:endParaRPr lang="en-US" altLang="en-US"/>
          </a:p>
          <a:p>
            <a:r>
              <a:rPr lang="en-US" altLang="en-US"/>
              <a:t>Forecast shows trend and repeating seasonal patterns.</a:t>
            </a:r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Holt-Winters exponential smoothing plot.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4375" y="1492885"/>
            <a:ext cx="11043285" cy="49631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/>
              <a:t>ARIMA Models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747895"/>
          </a:xfrm>
        </p:spPr>
        <p:txBody>
          <a:bodyPr>
            <a:normAutofit fontScale="85000"/>
          </a:bodyPr>
          <a:p>
            <a:r>
              <a:rPr lang="en-US" altLang="en-US"/>
              <a:t>ARIMA = Autoregressive Integrated Moving Average</a:t>
            </a:r>
            <a:endParaRPr lang="en-US" altLang="en-US"/>
          </a:p>
          <a:p>
            <a:r>
              <a:rPr lang="en-US" altLang="en-US"/>
              <a:t>Used for time series forecasting when data shows patterns but also randomness.</a:t>
            </a:r>
            <a:endParaRPr lang="en-US" altLang="en-US"/>
          </a:p>
          <a:p>
            <a:r>
              <a:rPr lang="en-US" altLang="en-US"/>
              <a:t>Breaks into 3 parts: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1, AR (p): Autoregressive part</a:t>
            </a:r>
            <a:endParaRPr lang="en-US" altLang="en-US"/>
          </a:p>
          <a:p>
            <a:r>
              <a:rPr lang="en-US" altLang="en-US"/>
              <a:t>Current value depends on its own past values.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I (d): Integrated part</a:t>
            </a:r>
            <a:endParaRPr lang="en-US" altLang="en-US"/>
          </a:p>
          <a:p>
            <a:r>
              <a:rPr lang="en-US" altLang="en-US"/>
              <a:t>Differencing used to make series stationary.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MA (q): Moving Average part</a:t>
            </a:r>
            <a:endParaRPr lang="en-US" altLang="en-US"/>
          </a:p>
          <a:p>
            <a:r>
              <a:rPr lang="en-US" altLang="en-US"/>
              <a:t>Current value depends on past forecast errors.</a:t>
            </a:r>
            <a:endParaRPr lang="en-US" altLang="en-US"/>
          </a:p>
          <a:p>
            <a:r>
              <a:rPr lang="en-US" altLang="en-US"/>
              <a:t> Example: Predicting stock prices, sales, rainfall using past data.</a:t>
            </a:r>
            <a:endParaRPr lang="en-US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2305"/>
            <a:ext cx="10515600" cy="5514975"/>
          </a:xfrm>
        </p:spPr>
        <p:txBody>
          <a:bodyPr>
            <a:normAutofit/>
          </a:bodyPr>
          <a:p>
            <a:r>
              <a:rPr lang="en-US" altLang="en-US" sz="3600"/>
              <a:t>General form: ARIMA(p, d, q)</a:t>
            </a:r>
            <a:endParaRPr lang="en-US" altLang="en-US" sz="3600"/>
          </a:p>
          <a:p>
            <a:r>
              <a:rPr lang="en-US" altLang="en-US" sz="3600"/>
              <a:t>Best for stationary time series (mean &amp; variance constant over time).</a:t>
            </a:r>
            <a:endParaRPr lang="en-US" altLang="en-US" sz="3600"/>
          </a:p>
          <a:p>
            <a:r>
              <a:rPr lang="en-US" altLang="en-US" sz="3600"/>
              <a:t>Steps in ARIMA modeling: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1. Differencing a time series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2. Selecting candidate ARIMA model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3. Forecasting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4. Analysis of ACF &amp; PACF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5. Diagnostic checking</a:t>
            </a:r>
            <a:endParaRPr lang="en-US" altLang="en-US" sz="3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9580"/>
            <a:ext cx="10515600" cy="57277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3600"/>
              <a:t>What is Stationarity?</a:t>
            </a:r>
            <a:endParaRPr lang="en-US" altLang="en-US" sz="3600"/>
          </a:p>
          <a:p>
            <a:r>
              <a:rPr lang="en-US" altLang="en-US" sz="3600"/>
              <a:t>A stationary series has: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1. Constant mean (average does not change over time)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2. Constant variance (fluctuations are stable)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3. No seasonality (no repeating cycles)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Why needed?</a:t>
            </a:r>
            <a:endParaRPr lang="en-US" altLang="en-US" sz="3600"/>
          </a:p>
          <a:p>
            <a:r>
              <a:rPr lang="en-US" altLang="en-US" sz="3600"/>
              <a:t>ARIMA assumes stationary data for reliable forecasting.</a:t>
            </a:r>
            <a:endParaRPr lang="en-US" altLang="en-US" sz="3600"/>
          </a:p>
          <a:p>
            <a:pPr marL="0" indent="0">
              <a:buNone/>
            </a:pPr>
            <a:r>
              <a:rPr lang="en-US" altLang="en-US" sz="3600"/>
              <a:t>If data is not stationary → apply differencing.</a:t>
            </a:r>
            <a:endParaRPr lang="en-US" altLang="en-US" sz="3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1. Differencing a Time Series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Differencing = subtracting consecutive values to remove trend/seasonality.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In 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diff(x, differences=1)   # 1st order difference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diff(x, differences=2)   # 2nd order difference</a:t>
            </a:r>
            <a:endParaRPr lang="en-US" altLang="en-US"/>
          </a:p>
          <a:p>
            <a:r>
              <a:rPr lang="en-US" altLang="en-US"/>
              <a:t>Continue differencing until series looks stationary.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" y="2641600"/>
            <a:ext cx="5939790" cy="137223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70" y="365125"/>
            <a:ext cx="11111230" cy="1325880"/>
          </a:xfrm>
        </p:spPr>
        <p:txBody>
          <a:bodyPr>
            <a:normAutofit fontScale="90000"/>
          </a:bodyPr>
          <a:p>
            <a:r>
              <a:rPr lang="en-US" altLang="en-US"/>
              <a:t> Shows stationary series after differencing order = 2.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1935" y="1529080"/>
            <a:ext cx="11389995" cy="502031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5030"/>
          </a:xfrm>
        </p:spPr>
        <p:txBody>
          <a:bodyPr>
            <a:normAutofit/>
          </a:bodyPr>
          <a:p>
            <a:r>
              <a:rPr lang="en-US" altLang="en-US"/>
              <a:t>2. Selecting Candidate ARIMA Model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9520"/>
            <a:ext cx="10515600" cy="4937760"/>
          </a:xfrm>
        </p:spPr>
        <p:txBody>
          <a:bodyPr>
            <a:normAutofit lnSpcReduction="20000"/>
          </a:bodyPr>
          <a:p>
            <a:r>
              <a:rPr lang="en-US" altLang="en-US"/>
              <a:t>After differencing, we must find best values for p and q.</a:t>
            </a:r>
            <a:endParaRPr lang="en-US" altLang="en-US"/>
          </a:p>
          <a:p>
            <a:r>
              <a:rPr lang="en-US" altLang="en-US"/>
              <a:t>Tools: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 ACF (Autocorrelation Function):</a:t>
            </a:r>
            <a:endParaRPr lang="en-US" altLang="en-US"/>
          </a:p>
          <a:p>
            <a:r>
              <a:rPr lang="en-US" altLang="en-US"/>
              <a:t>Shows correlation of series with its past values.</a:t>
            </a:r>
            <a:endParaRPr lang="en-US" altLang="en-US"/>
          </a:p>
          <a:p>
            <a:r>
              <a:rPr lang="en-US" altLang="en-US"/>
              <a:t>Helps decide q (MA order).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PACF (Partial Autocorrelation Function):</a:t>
            </a:r>
            <a:endParaRPr lang="en-US" altLang="en-US"/>
          </a:p>
          <a:p>
            <a:r>
              <a:rPr lang="en-US" altLang="en-US"/>
              <a:t>Shows direct correlation with past values.</a:t>
            </a:r>
            <a:endParaRPr lang="en-US" altLang="en-US"/>
          </a:p>
          <a:p>
            <a:r>
              <a:rPr lang="en-US" altLang="en-US"/>
              <a:t>Helps decide p (AR order).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 Functions: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acf(series)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pacf(series)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Figure--ACF plot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1030" y="1473835"/>
            <a:ext cx="11186160" cy="513270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Figure--PACF plot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320800"/>
            <a:ext cx="10835005" cy="522922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 – Model Selection: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Suppose ACF shows 1 significant spike → suggests MA(1).</a:t>
            </a:r>
            <a:endParaRPr lang="en-US" altLang="en-US"/>
          </a:p>
          <a:p>
            <a:r>
              <a:rPr lang="en-US" altLang="en-US"/>
              <a:t>Suppose PACF shows 2 significant spikes → suggests AR(2).</a:t>
            </a:r>
            <a:endParaRPr lang="en-US" altLang="en-US"/>
          </a:p>
          <a:p>
            <a:r>
              <a:rPr lang="en-US" altLang="en-US"/>
              <a:t>If differencing order = 1 → ARIMA(2,1,1).</a:t>
            </a:r>
            <a:endParaRPr lang="en-US" altLang="en-US"/>
          </a:p>
          <a:p>
            <a:r>
              <a:rPr lang="en-US" altLang="en-US"/>
              <a:t>Alternatively, use: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library(forecast)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auto.arima(series)</a:t>
            </a:r>
            <a:endParaRPr lang="en-US" altLang="en-US"/>
          </a:p>
          <a:p>
            <a:r>
              <a:rPr lang="en-US" altLang="en-US"/>
              <a:t>automatically selects the best (p, d, q).</a:t>
            </a:r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3. Forecasting with ARIMA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Once (p, d, q) chosen → fit ARIMA model.</a:t>
            </a:r>
            <a:endParaRPr lang="en-US" altLang="en-US"/>
          </a:p>
          <a:p>
            <a:r>
              <a:rPr lang="en-US" altLang="en-US"/>
              <a:t>In 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model &lt;- arima(series, order=c(p,d,q))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forecast(model)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Example: ARIMA(0,2,1) → fitted for attendance data.</a:t>
            </a:r>
            <a:endParaRPr lang="en-US" altLang="en-US"/>
          </a:p>
          <a:p>
            <a:r>
              <a:rPr lang="en-US" altLang="en-US"/>
              <a:t>Produces forecast values with confidence intervals.</a:t>
            </a:r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Forecast plot using ARIMA model.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8785" y="1306195"/>
            <a:ext cx="11153140" cy="52298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4. Analyzing ACF &amp; PACF (Simulation)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After fitting → simulate to check model assumptions.</a:t>
            </a:r>
            <a:endParaRPr lang="en-US" altLang="en-US"/>
          </a:p>
          <a:p>
            <a:r>
              <a:rPr lang="en-US" altLang="en-US"/>
              <a:t>Use arima.sim() in 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sim &lt;- arima.sim(model=list(ar=0.7, ma=0.3), n=100)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plot(sim)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Helps validate AR &amp; MA terms used in the model.</a:t>
            </a:r>
            <a:endParaRPr lang="en-US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05" y="365125"/>
            <a:ext cx="10515600" cy="1325563"/>
          </a:xfrm>
        </p:spPr>
        <p:txBody>
          <a:bodyPr>
            <a:normAutofit/>
          </a:bodyPr>
          <a:p>
            <a:r>
              <a:rPr lang="en-US" altLang="en-US"/>
              <a:t>Simulation plot of ARIMA(p,d,q).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905" y="1691005"/>
            <a:ext cx="11936095" cy="477901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5. Diagnostic Checking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Goal → ensure model is a good fit.</a:t>
            </a:r>
            <a:endParaRPr lang="en-US" altLang="en-US"/>
          </a:p>
          <a:p>
            <a:r>
              <a:rPr lang="en-US" altLang="en-US"/>
              <a:t>Check residuals (errors).</a:t>
            </a:r>
            <a:endParaRPr lang="en-US" altLang="en-US"/>
          </a:p>
          <a:p>
            <a:r>
              <a:rPr lang="en-US" altLang="en-US"/>
              <a:t>In 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tsdiag(model)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Outputs 3 diagnostic plots: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 Standardized residuals → should look random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ACF of residuals → should show no significant spikes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Ljung-Box test → checks randomness</a:t>
            </a:r>
            <a:endParaRPr lang="en-US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Diagnostic checking plots.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8280" y="1346835"/>
            <a:ext cx="11145520" cy="523684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Points: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/>
          </a:bodyPr>
          <a:p>
            <a:r>
              <a:rPr lang="en-US" altLang="en-US"/>
              <a:t>ARIMA(p,d,q) is powerful for forecasting non-seasonal, stationary series.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Steps to apply ARIMA:</a:t>
            </a:r>
            <a:endParaRPr lang="en-US" altLang="en-US"/>
          </a:p>
          <a:p>
            <a:r>
              <a:rPr lang="en-US" altLang="en-US"/>
              <a:t>Make series stationary (differencing).</a:t>
            </a:r>
            <a:endParaRPr lang="en-US" altLang="en-US"/>
          </a:p>
          <a:p>
            <a:r>
              <a:rPr lang="en-US" altLang="en-US"/>
              <a:t>Use ACF &amp; PACF to choose p &amp; q.</a:t>
            </a:r>
            <a:endParaRPr lang="en-US" altLang="en-US"/>
          </a:p>
          <a:p>
            <a:r>
              <a:rPr lang="en-US" altLang="en-US"/>
              <a:t>Fit ARIMA model.</a:t>
            </a:r>
            <a:endParaRPr lang="en-US" altLang="en-US"/>
          </a:p>
          <a:p>
            <a:r>
              <a:rPr lang="en-US" altLang="en-US"/>
              <a:t>Forecast future values.</a:t>
            </a:r>
            <a:endParaRPr lang="en-US" altLang="en-US"/>
          </a:p>
          <a:p>
            <a:r>
              <a:rPr lang="en-US" altLang="en-US"/>
              <a:t>Perform diagnostic checking.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---Useful in finance, economics, demand forecasting, climate studies.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14821</Words>
  <Application>WPS Presentation</Application>
  <PresentationFormat>Widescreen</PresentationFormat>
  <Paragraphs>554</Paragraphs>
  <Slides>71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BatangChe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Ramya sri Munukuntla</cp:lastModifiedBy>
  <cp:revision>3</cp:revision>
  <dcterms:created xsi:type="dcterms:W3CDTF">2025-07-23T00:59:00Z</dcterms:created>
  <dcterms:modified xsi:type="dcterms:W3CDTF">2025-09-30T18:17:16Z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6EE1F70650D64E72ADDF17C376576F5B_11</vt:lpwstr>
  </property>
  <property fmtid="{D5CDD505-2E9C-101B-9397-08002B2CF9AE}" pid="3" name="KSOProductBuildVer">
    <vt:lpwstr>1033-12.2.0.22549</vt:lpwstr>
  </property>
</Properties>
</file>