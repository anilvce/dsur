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70" r:id="rId7"/>
    <p:sldId id="260" r:id="rId8"/>
    <p:sldId id="271" r:id="rId9"/>
    <p:sldId id="261" r:id="rId10"/>
    <p:sldId id="272" r:id="rId11"/>
    <p:sldId id="262" r:id="rId12"/>
    <p:sldId id="273" r:id="rId13"/>
    <p:sldId id="274" r:id="rId14"/>
    <p:sldId id="263" r:id="rId15"/>
    <p:sldId id="275" r:id="rId16"/>
    <p:sldId id="264" r:id="rId17"/>
    <p:sldId id="276" r:id="rId18"/>
    <p:sldId id="265" r:id="rId19"/>
    <p:sldId id="277" r:id="rId20"/>
    <p:sldId id="266" r:id="rId21"/>
    <p:sldId id="278" r:id="rId22"/>
    <p:sldId id="279" r:id="rId23"/>
    <p:sldId id="280" r:id="rId24"/>
    <p:sldId id="267" r:id="rId25"/>
    <p:sldId id="281" r:id="rId26"/>
    <p:sldId id="282" r:id="rId27"/>
    <p:sldId id="268" r:id="rId28"/>
    <p:sldId id="283" r:id="rId29"/>
    <p:sldId id="26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Logistic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UNIT-4</a:t>
            </a:r>
            <a:endParaRPr lang="en-US"/>
          </a:p>
          <a:p>
            <a:r>
              <a:rPr lang="en-US"/>
              <a:t>Part-2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5860"/>
            <a:ext cx="8229600" cy="4525963"/>
          </a:xfrm>
        </p:spPr>
        <p:txBody>
          <a:bodyPr/>
          <a:lstStyle/>
          <a:p>
            <a:r>
              <a:t> Logistic Regression is part of Generalized Linear Models (GLMs).</a:t>
            </a:r>
          </a:p>
          <a:p>
            <a:r>
              <a:t> Predicts probability of an event (values between 0 and 1).</a:t>
            </a:r>
          </a:p>
          <a:p>
            <a:r>
              <a:t> Used when output is binary (Yes/No, True/False).</a:t>
            </a:r>
          </a:p>
          <a:p>
            <a:pPr marL="0" indent="0">
              <a:buNone/>
            </a:pPr>
            <a:r>
              <a:t>-Examples:</a:t>
            </a:r>
          </a:p>
          <a:p>
            <a:pPr marL="0" indent="0">
              <a:buNone/>
            </a:pPr>
            <a:r>
              <a:t>   • Will a newborn be at medical risk?</a:t>
            </a:r>
          </a:p>
          <a:p>
            <a:pPr marL="0" indent="0">
              <a:buNone/>
            </a:pPr>
            <a:r>
              <a:t>   • Will a flight be delayed?</a:t>
            </a:r>
          </a:p>
          <a:p>
            <a:pPr marL="0" indent="0">
              <a:buNone/>
            </a:pPr>
            <a:r>
              <a:t>   • Is this email spam?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Not Linear Regression for Probabilities?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 can output &lt;0 or &gt;1 (invalid for probabilities).</a:t>
            </a:r>
          </a:p>
          <a:p>
            <a:r>
              <a:rPr lang="en-US" altLang="en-US"/>
              <a:t>Logistic Regression solves this using log-odds transformation.</a:t>
            </a:r>
            <a:endParaRPr lang="en-US" altLang="en-US"/>
          </a:p>
          <a:p>
            <a:pPr marL="0" indent="0">
              <a:buNone/>
            </a:pPr>
            <a:r>
              <a:t>- Formula:</a:t>
            </a:r>
          </a:p>
          <a:p>
            <a:r>
              <a:t>   logit(p) = log(p / (1 - p))</a:t>
            </a:r>
          </a:p>
          <a:p>
            <a:r>
              <a:t> Maps probability range (0–1) into (–∞, ∞).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Odds and Log-Odds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Odds = Probability of success ÷ Probability of failure.</a:t>
            </a:r>
          </a:p>
          <a:p>
            <a:r>
              <a:t> Example: p=0.8 → odds = 0.8 / 0.2 = 4.</a:t>
            </a:r>
          </a:p>
          <a:p>
            <a:r>
              <a:t> Log-odds (logit):</a:t>
            </a:r>
          </a:p>
          <a:p>
            <a:pPr marL="0" indent="0">
              <a:buNone/>
            </a:pPr>
            <a:r>
              <a:t>   • Positive → event more likely.</a:t>
            </a:r>
          </a:p>
          <a:p>
            <a:pPr marL="0" indent="0">
              <a:buNone/>
            </a:pPr>
            <a:r>
              <a:t>   • Negative → event less likely.</a:t>
            </a:r>
          </a:p>
          <a:p>
            <a:pPr marL="0" indent="0">
              <a:buNone/>
            </a:pPr>
            <a:r>
              <a:t>   • Zero → equal chance (50%).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Figure 7.12: Shows mapping of probability → odds → log-odds.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954395"/>
            <a:ext cx="8229600" cy="675005"/>
          </a:xfrm>
        </p:spPr>
        <p:txBody>
          <a:bodyPr>
            <a:normAutofit fontScale="70000"/>
          </a:bodyPr>
          <a:p>
            <a:r>
              <a:rPr lang="en-US" altLang="en-US"/>
              <a:t>Converts probabilities (bounded 0–1) into unbounded scale (–∞, ∞).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65" y="1623695"/>
            <a:ext cx="8176895" cy="4330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Sigmoid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Converts log-odds back into probability.</a:t>
            </a:r>
          </a:p>
          <a:p>
            <a:r>
              <a:t>Formula: s(x) = 1 / (1 + e^(-x)).</a:t>
            </a:r>
          </a:p>
          <a:p>
            <a:r>
              <a:t>Properties:</a:t>
            </a:r>
          </a:p>
          <a:p>
            <a:pPr marL="0" indent="0">
              <a:buNone/>
            </a:pPr>
            <a:r>
              <a:t>   • S-shaped curve.</a:t>
            </a:r>
          </a:p>
          <a:p>
            <a:pPr marL="0" indent="0">
              <a:buNone/>
            </a:pPr>
            <a:r>
              <a:t>   • Always between 0 and 1.</a:t>
            </a:r>
          </a:p>
          <a:p>
            <a:pPr marL="0" indent="0">
              <a:buNone/>
            </a:pPr>
            <a:r>
              <a:t>   • At x=0 → p=0.5.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735" y="-165100"/>
            <a:ext cx="8959850" cy="1143000"/>
          </a:xfrm>
        </p:spPr>
        <p:txBody>
          <a:bodyPr>
            <a:normAutofit/>
          </a:bodyPr>
          <a:p>
            <a:r>
              <a:rPr lang="en-US" altLang="en-US" sz="3110"/>
              <a:t>Figure 7.13: S-curve mapping log-odds → probability.</a:t>
            </a:r>
            <a:endParaRPr lang="en-US" altLang="en-US" sz="311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160770"/>
            <a:ext cx="8229600" cy="524510"/>
          </a:xfrm>
        </p:spPr>
        <p:txBody>
          <a:bodyPr>
            <a:normAutofit fontScale="90000" lnSpcReduction="20000"/>
          </a:bodyPr>
          <a:p>
            <a:r>
              <a:rPr lang="en-US" altLang="en-US"/>
              <a:t>Ensures predictions are always valid probabilities.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2195"/>
            <a:ext cx="8229600" cy="50425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525963"/>
          </a:xfrm>
        </p:spPr>
        <p:txBody>
          <a:bodyPr/>
          <a:lstStyle/>
          <a:p>
            <a:r>
              <a:t> Model equation:</a:t>
            </a:r>
          </a:p>
          <a:p>
            <a:pPr marL="0" indent="0">
              <a:buNone/>
            </a:pPr>
            <a:r>
              <a:t>  logit(P(y=1)) = a + b1*x1 + b2*x2 + ... + bn*xn</a:t>
            </a:r>
          </a:p>
          <a:p>
            <a:r>
              <a:t>Probability of success:</a:t>
            </a:r>
          </a:p>
          <a:p>
            <a:pPr marL="0" indent="0">
              <a:buNone/>
            </a:pPr>
            <a:r>
              <a:t> P(y=1) = sigmoid(a + b1*x1 + b2*x2 + ... +bn*xn)</a:t>
            </a:r>
          </a:p>
          <a:p>
            <a:pPr marL="0" indent="0">
              <a:buNone/>
            </a:pPr>
            <a:r>
              <a:t>- Interpretation:</a:t>
            </a:r>
          </a:p>
          <a:p>
            <a:pPr marL="0" indent="0">
              <a:buNone/>
            </a:pPr>
            <a:r>
              <a:t>   • Each coefficient changes log-odds of outcome.</a:t>
            </a:r>
          </a:p>
          <a:p>
            <a:pPr marL="0" indent="0">
              <a:buNone/>
            </a:pPr>
            <a:r>
              <a:t>   • Sigmoid converts it into probability.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Equation 7.2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A linear combination of inputs gets passed through sigmoid → probability.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005" y="2800985"/>
            <a:ext cx="8011795" cy="18268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– Natality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525963"/>
          </a:xfrm>
        </p:spPr>
        <p:txBody>
          <a:bodyPr/>
          <a:lstStyle/>
          <a:p>
            <a:r>
              <a:t>Dataset: CDC Natality Data (~26,000 births).</a:t>
            </a:r>
          </a:p>
          <a:p>
            <a:r>
              <a:t>Task: Predict if baby is atRisk (Apgar score &lt;7).</a:t>
            </a:r>
          </a:p>
          <a:p>
            <a:r>
              <a:t>Predictor variables include:</a:t>
            </a:r>
          </a:p>
          <a:p>
            <a:pPr marL="0" indent="0">
              <a:buNone/>
            </a:pPr>
            <a:r>
              <a:t>   • Mother’s weight (PWGT)</a:t>
            </a:r>
          </a:p>
          <a:p>
            <a:pPr marL="0" indent="0">
              <a:buNone/>
            </a:pPr>
            <a:r>
              <a:t>   • Prenatal visits (UPREVIS)</a:t>
            </a:r>
          </a:p>
          <a:p>
            <a:pPr marL="0" indent="0">
              <a:buNone/>
            </a:pPr>
            <a:r>
              <a:t>   • Smoker status (CIG_REC)</a:t>
            </a:r>
          </a:p>
          <a:p>
            <a:pPr marL="0" indent="0">
              <a:buNone/>
            </a:pPr>
            <a:r>
              <a:t>   • Complications: breech, diabetes, hypertension</a:t>
            </a:r>
          </a:p>
          <a:p>
            <a:r>
              <a:t>Split into training and test sets.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Listing 7.7 Loading the CDC data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load("NatalRiskData.rData")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train &lt;- sdata[sdata$ORIGRANDGROUP &lt;=5,]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test &lt;- sdata[sdata$ORIGRANDGROUP &gt; 5, ]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--Table 7.1 lists the columns of the dataset that you will use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Table 7.1 Some variables in the natality dataset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2420" y="1378585"/>
            <a:ext cx="8383270" cy="49485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Logistic Regression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5860"/>
            <a:ext cx="8229600" cy="4525963"/>
          </a:xfrm>
        </p:spPr>
        <p:txBody>
          <a:bodyPr/>
          <a:lstStyle/>
          <a:p>
            <a:r>
              <a:t>Use glm() instead of lm().</a:t>
            </a:r>
          </a:p>
          <a:p>
            <a:r>
              <a:t>Syntax:</a:t>
            </a:r>
          </a:p>
          <a:p>
            <a:pPr marL="0" indent="0">
              <a:buNone/>
            </a:pPr>
            <a:r>
              <a:t> model &lt;- glm(formula, data=train, family=binomial(link='logit'))</a:t>
            </a:r>
          </a:p>
          <a:p>
            <a:r>
              <a:t>Parameters:</a:t>
            </a:r>
          </a:p>
          <a:p>
            <a:pPr marL="0" indent="0">
              <a:buNone/>
            </a:pPr>
            <a:r>
              <a:t>  • family=binomial → binary classification</a:t>
            </a:r>
          </a:p>
          <a:p>
            <a:pPr marL="0" indent="0">
              <a:buNone/>
            </a:pPr>
            <a:r>
              <a:t>   • link='logit' → logistic regression</a:t>
            </a:r>
          </a:p>
          <a:p>
            <a:r>
              <a:t>Example: glm(atRisk ~ PWGT + UPREVIS + CIG_REC + ..., data=train, family=binomial(link='logit'))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562610"/>
          </a:xfrm>
        </p:spPr>
        <p:txBody>
          <a:bodyPr>
            <a:normAutofit fontScale="90000"/>
          </a:bodyPr>
          <a:p>
            <a:r>
              <a:rPr lang="en-US" altLang="en-US"/>
              <a:t>Listing 7.8 &amp; 7.9 (formula + glm).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53100"/>
            <a:ext cx="8229600" cy="932815"/>
          </a:xfrm>
        </p:spPr>
        <p:txBody>
          <a:bodyPr>
            <a:normAutofit fontScale="90000" lnSpcReduction="10000"/>
          </a:bodyPr>
          <a:p>
            <a:r>
              <a:rPr lang="en-US" altLang="en-US"/>
              <a:t>R builds a logistic regression model using glm() just like lm(), but with binomial family.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835" y="516255"/>
            <a:ext cx="8232775" cy="52368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Making 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Use predict() with trained model.</a:t>
            </a:r>
          </a:p>
          <a:p>
            <a:pPr marL="0" indent="0">
              <a:buNone/>
            </a:pPr>
            <a:r>
              <a:t>- Example:</a:t>
            </a:r>
          </a:p>
          <a:p>
            <a:pPr marL="0" indent="0">
              <a:buNone/>
            </a:pPr>
            <a:r>
              <a:t>train$pred &lt;- predict(model, newdata=train, type='response')</a:t>
            </a:r>
          </a:p>
          <a:p>
            <a:pPr marL="0" indent="0">
              <a:buNone/>
            </a:pPr>
            <a:r>
              <a:t>test$pred  &lt;- predict(model, newdata=test, type='response')</a:t>
            </a:r>
          </a:p>
          <a:p>
            <a:r>
              <a:t>- type='response' → probabilities (0–1).</a:t>
            </a:r>
          </a:p>
          <a:p>
            <a:r>
              <a:t>- Without it → raw logit values.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Listing 7.10 (predict).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Converts model output into probabilities.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910" y="2871470"/>
            <a:ext cx="8517890" cy="31775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Preserving Marginal Probabilities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r>
              <a:t>Logistic Regression preserves probability distribution.</a:t>
            </a:r>
          </a:p>
          <a:p>
            <a:r>
              <a:rPr lang="en-US" altLang="en-US"/>
              <a:t>Logistic Regression keeps predicted probabilities consistent with observed proportions.</a:t>
            </a:r>
            <a:endParaRPr lang="en-US" altLang="en-US"/>
          </a:p>
          <a:p>
            <a:r>
              <a:rPr lang="en-US" altLang="en-US"/>
              <a:t>Example: If 5% of babies are “atRisk”, average predicted risk ≈ 5%.</a:t>
            </a:r>
            <a:endParaRPr lang="en-US" altLang="en-US"/>
          </a:p>
          <a:p>
            <a:r>
              <a:t>Average predicted risk ≈ observed proportion of positive cases.</a:t>
            </a:r>
          </a:p>
          <a:p>
            <a:r>
              <a:t> Works overall and within subgroups (e.g., premature babies).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Listing 7.11 (probability check).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2055"/>
            <a:ext cx="8229600" cy="4525963"/>
          </a:xfrm>
        </p:spPr>
        <p:txBody>
          <a:bodyPr/>
          <a:p>
            <a:r>
              <a:rPr lang="en-US" altLang="en-US" sz="2800"/>
              <a:t>Shows predicted probabilities match actual event frequency.</a:t>
            </a:r>
            <a:endParaRPr lang="en-US" altLang="en-US" sz="28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12645"/>
            <a:ext cx="7881620" cy="44481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Evaluating Predictions – Score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Good model: separates positive and negative cases.</a:t>
            </a:r>
          </a:p>
          <a:p>
            <a:r>
              <a:rPr lang="en-US" altLang="en-US"/>
              <a:t>Distribution plot:</a:t>
            </a:r>
            <a:endParaRPr lang="en-US" altLang="en-US"/>
          </a:p>
          <a:p>
            <a:pPr marL="0" indent="0">
              <a:buNone/>
            </a:pPr>
            <a:r>
              <a:t>- Negative cases → mostly low scores.</a:t>
            </a:r>
          </a:p>
          <a:p>
            <a:pPr marL="0" indent="0">
              <a:buNone/>
            </a:pPr>
            <a:r>
              <a:t>- Positive cases → mostly high scores.</a:t>
            </a:r>
          </a:p>
          <a:p>
            <a:r>
              <a:t> Overlap region = uncertainty.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245" y="0"/>
            <a:ext cx="8229600" cy="799465"/>
          </a:xfrm>
        </p:spPr>
        <p:txBody>
          <a:bodyPr/>
          <a:p>
            <a:r>
              <a:rPr lang="en-US" altLang="en-US"/>
              <a:t>Figure 7.14 (Natality scores).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4075"/>
            <a:ext cx="8229600" cy="1054735"/>
          </a:xfrm>
        </p:spPr>
        <p:txBody>
          <a:bodyPr>
            <a:normAutofit lnSpcReduction="10000"/>
          </a:bodyPr>
          <a:p>
            <a:r>
              <a:rPr lang="en-US" altLang="en-US"/>
              <a:t>Shows how well the model distinguishes risky from safe babies.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22780"/>
            <a:ext cx="8208645" cy="480631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5405"/>
            <a:ext cx="8229600" cy="627380"/>
          </a:xfrm>
        </p:spPr>
        <p:txBody>
          <a:bodyPr>
            <a:normAutofit fontScale="90000"/>
          </a:bodyPr>
          <a:p>
            <a:r>
              <a:rPr lang="en-US" altLang="en-US"/>
              <a:t>Figure 7.15 (Spam filter).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20090"/>
            <a:ext cx="8229600" cy="1127125"/>
          </a:xfrm>
        </p:spPr>
        <p:txBody>
          <a:bodyPr/>
          <a:p>
            <a:r>
              <a:rPr lang="en-US" altLang="en-US"/>
              <a:t>Spam example shows better separation between spam and non-spam.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465" y="1724025"/>
            <a:ext cx="7732395" cy="47009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Listing 7.12 (density plot code).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library(WVPlots)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DoubleDensityPlot(train, "pred", "atRisk",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title = "Distribution of natality risk scores")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---Plotting distribution of prediction score grouped by known outcome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Thresholds for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/>
              <a:t>Logistic regression predicts probabilities → need threshold to classify.</a:t>
            </a:r>
            <a:endParaRPr lang="en-US" altLang="en-US"/>
          </a:p>
          <a:p>
            <a:r>
              <a:rPr lang="en-US" altLang="en-US"/>
              <a:t>Example: threshold = 0.02 (2% risk)</a:t>
            </a:r>
            <a:endParaRPr lang="en-US" altLang="en-US"/>
          </a:p>
          <a:p>
            <a:r>
              <a:t>Trade-offs:</a:t>
            </a:r>
          </a:p>
          <a:p>
            <a:pPr marL="0" indent="0">
              <a:buNone/>
            </a:pPr>
            <a:r>
              <a:t>   • Higher threshold → higher precision, lower recall</a:t>
            </a:r>
          </a:p>
          <a:p>
            <a:pPr marL="0" indent="0">
              <a:buNone/>
            </a:pPr>
            <a:r>
              <a:t>   • Lower threshold → higher recall, lower precision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005" y="128270"/>
            <a:ext cx="8265795" cy="347980"/>
          </a:xfrm>
        </p:spPr>
        <p:txBody>
          <a:bodyPr>
            <a:normAutofit fontScale="90000"/>
          </a:bodyPr>
          <a:p>
            <a:r>
              <a:rPr lang="en-US" altLang="en-US" sz="3110"/>
              <a:t>Figure 7.16 (Enrichment vs Recall curves).</a:t>
            </a:r>
            <a:endParaRPr lang="en-US" altLang="en-US" sz="311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57225"/>
            <a:ext cx="8229600" cy="1320800"/>
          </a:xfrm>
        </p:spPr>
        <p:txBody>
          <a:bodyPr/>
          <a:p>
            <a:r>
              <a:rPr lang="en-US" altLang="en-US"/>
              <a:t>Trade-off between precision and recall when adjusting threshold.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075" y="1704975"/>
            <a:ext cx="7959725" cy="478091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Listing 7.13 (PRTPlot code).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8280" y="2039620"/>
            <a:ext cx="8742045" cy="317373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After threshold is fixed, build confusion matrix.</a:t>
            </a:r>
          </a:p>
          <a:p>
            <a:r>
              <a:t>Example (threshold=0.02):</a:t>
            </a:r>
          </a:p>
          <a:p>
            <a:pPr marL="0" indent="0">
              <a:buNone/>
            </a:pPr>
            <a:r>
              <a:t>   • Precision = 4.6%</a:t>
            </a:r>
          </a:p>
          <a:p>
            <a:pPr marL="0" indent="0">
              <a:buNone/>
            </a:pPr>
            <a:r>
              <a:t>   • Recall = 55.5%</a:t>
            </a:r>
          </a:p>
          <a:p>
            <a:pPr marL="0" indent="0">
              <a:buNone/>
            </a:pPr>
            <a:r>
              <a:t>   • Enrichment = 2.66 (better than random).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455295"/>
          </a:xfrm>
        </p:spPr>
        <p:txBody>
          <a:bodyPr>
            <a:normAutofit fontScale="90000"/>
          </a:bodyPr>
          <a:p>
            <a:r>
              <a:rPr lang="en-US" altLang="en-US" sz="3110"/>
              <a:t>Listing 7.14 (confusion matrix + metrics).</a:t>
            </a:r>
            <a:endParaRPr lang="en-US" altLang="en-US" sz="311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20090"/>
            <a:ext cx="8229600" cy="1828165"/>
          </a:xfrm>
        </p:spPr>
        <p:txBody>
          <a:bodyPr/>
          <a:p>
            <a:r>
              <a:rPr lang="en-US" altLang="en-US"/>
              <a:t>Shows how threshold converts probabilities into Yes/No predictions and how well they perform.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705" y="2162175"/>
            <a:ext cx="8710295" cy="434022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105" y="1187450"/>
            <a:ext cx="8229600" cy="4525963"/>
          </a:xfrm>
        </p:spPr>
        <p:txBody>
          <a:bodyPr/>
          <a:lstStyle/>
          <a:p>
            <a:r>
              <a:t>Logistic Regression predicts probabilities for binary outcomes.</a:t>
            </a:r>
          </a:p>
          <a:p>
            <a:r>
              <a:t>Uses logit transform + sigmoid function.</a:t>
            </a:r>
          </a:p>
          <a:p>
            <a:pPr marL="0" indent="0">
              <a:buNone/>
            </a:pPr>
            <a:r>
              <a:t>- In R:</a:t>
            </a:r>
          </a:p>
          <a:p>
            <a:pPr marL="0" indent="0">
              <a:buNone/>
            </a:pPr>
            <a:r>
              <a:t>   • Build with glm() (binomial family)</a:t>
            </a:r>
          </a:p>
          <a:p>
            <a:pPr marL="0" indent="0">
              <a:buNone/>
            </a:pPr>
            <a:r>
              <a:t>   • Predict with predict(..., type='response')</a:t>
            </a:r>
          </a:p>
          <a:p>
            <a:pPr marL="0" indent="0">
              <a:buNone/>
            </a:pPr>
            <a:r>
              <a:t>- Evaluate using:</a:t>
            </a:r>
          </a:p>
          <a:p>
            <a:pPr marL="0" indent="0">
              <a:buNone/>
            </a:pPr>
            <a:r>
              <a:t>   • Probability distribution plots</a:t>
            </a:r>
          </a:p>
          <a:p>
            <a:pPr marL="0" indent="0">
              <a:buNone/>
            </a:pPr>
            <a:r>
              <a:t>   • Threshold tuning (precision vs recall)</a:t>
            </a:r>
          </a:p>
          <a:p>
            <a:pPr marL="0" indent="0">
              <a:buNone/>
            </a:pPr>
            <a:r>
              <a:t>   • Confusion matrix 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4992</Words>
  <Application>WPS Presentation</Application>
  <PresentationFormat>On-screen Show (4:3)</PresentationFormat>
  <Paragraphs>186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Logistic Regression</vt:lpstr>
      <vt:lpstr>Introduction</vt:lpstr>
      <vt:lpstr>Why Not Linear Regression for Probabilities?</vt:lpstr>
      <vt:lpstr>Odds and Log-Odds</vt:lpstr>
      <vt:lpstr>Figure 7.12: Shows mapping of probability → odds → log-odds.</vt:lpstr>
      <vt:lpstr>The Sigmoid Function</vt:lpstr>
      <vt:lpstr>Figure 7.13: S-curve mapping log-odds → probability.</vt:lpstr>
      <vt:lpstr>Logistic Regression Model</vt:lpstr>
      <vt:lpstr>Equation 7.2</vt:lpstr>
      <vt:lpstr>Case Study – Natality Data</vt:lpstr>
      <vt:lpstr>PowerPoint 演示文稿</vt:lpstr>
      <vt:lpstr>PowerPoint 演示文稿</vt:lpstr>
      <vt:lpstr>Building Logistic Regression in R</vt:lpstr>
      <vt:lpstr>PowerPoint 演示文稿</vt:lpstr>
      <vt:lpstr>Making Predictions</vt:lpstr>
      <vt:lpstr>PowerPoint 演示文稿</vt:lpstr>
      <vt:lpstr>Preserving Marginal Probabilities</vt:lpstr>
      <vt:lpstr>PowerPoint 演示文稿</vt:lpstr>
      <vt:lpstr>Evaluating Predictions – Score Distribution</vt:lpstr>
      <vt:lpstr>PowerPoint 演示文稿</vt:lpstr>
      <vt:lpstr>PowerPoint 演示文稿</vt:lpstr>
      <vt:lpstr>PowerPoint 演示文稿</vt:lpstr>
      <vt:lpstr>Choosing Thresholds for Classification</vt:lpstr>
      <vt:lpstr>PowerPoint 演示文稿</vt:lpstr>
      <vt:lpstr>PowerPoint 演示文稿</vt:lpstr>
      <vt:lpstr>Confusion Matrix Evaluation</vt:lpstr>
      <vt:lpstr>PowerPoint 演示文稿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Ramya sri Munukuntla</cp:lastModifiedBy>
  <cp:revision>5</cp:revision>
  <dcterms:created xsi:type="dcterms:W3CDTF">2013-01-27T09:14:00Z</dcterms:created>
  <dcterms:modified xsi:type="dcterms:W3CDTF">2025-09-09T14:21:54Z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44601C5E138C45C792E2705A0050EC05_12</vt:lpwstr>
  </property>
  <property fmtid="{D5CDD505-2E9C-101B-9397-08002B2CF9AE}" pid="3" name="KSOProductBuildVer">
    <vt:lpwstr>1033-12.2.0.22549</vt:lpwstr>
  </property>
</Properties>
</file>